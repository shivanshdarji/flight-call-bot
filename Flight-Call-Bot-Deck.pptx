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6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2011680"/>
            <a:ext cx="5486400" cy="5486400"/>
          </a:xfrm>
          <a:prstGeom prst="ellipse">
            <a:avLst/>
          </a:prstGeom>
          <a:solidFill>
            <a:srgbClr val="144272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389120"/>
            <a:ext cx="4572000" cy="4572000"/>
          </a:xfrm>
          <a:prstGeom prst="ellipse">
            <a:avLst/>
          </a:prstGeom>
          <a:solidFill>
            <a:srgbClr val="205295">
              <a:alpha val="45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77724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C7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22NORTH PRODUCT ENGINEERING CHALLENGE 2026  ·  CHALLENGE 1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77240" y="182880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Flight-Call-Bot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822960" y="288036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voice-enabled self-service recovery assistant for SkyJet Airways passengers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22960" y="512064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Hack Hustlers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Jaydev Prajapati  ·  Shivansh Darji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Sardar Vallabhbhai Patel Institute of Technology, Vasad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2960" y="6172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7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flight-call-bot.onrender.com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7083"/>
                </a:solidFill>
              </a:rPr>
              <a:t>SkyJet Airways — Regional carrier, 65 aircraft across Asia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7607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weather disruptions, passengers flood the contact center to ask three things: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my flight cancelled?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 move to another flight?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I eligible for a refund?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3977640"/>
            <a:ext cx="5760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44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COO wants a digital self-service experience live before the next holiday season.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766560" y="1554480"/>
            <a:ext cx="4846320" cy="1417320"/>
          </a:xfrm>
          <a:prstGeom prst="roundRect">
            <a:avLst>
              <a:gd name="adj" fmla="val 5161"/>
            </a:avLst>
          </a:prstGeom>
          <a:solidFill>
            <a:srgbClr val="0A2647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5160" y="1810512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680960" y="166420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40%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7680960" y="233172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passengers call the contact center during disruptions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766560" y="3246120"/>
            <a:ext cx="4846320" cy="1417320"/>
          </a:xfrm>
          <a:prstGeom prst="roundRect">
            <a:avLst>
              <a:gd name="adj" fmla="val 5161"/>
            </a:avLst>
          </a:prstGeom>
          <a:solidFill>
            <a:srgbClr val="0A2647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0" y="3502152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80960" y="335584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25+ min</a:t>
            </a:r>
            <a:endParaRPr lang="en-US" sz="3200" dirty="0"/>
          </a:p>
        </p:txBody>
      </p:sp>
      <p:sp>
        <p:nvSpPr>
          <p:cNvPr id="13" name="Text 9"/>
          <p:cNvSpPr/>
          <p:nvPr/>
        </p:nvSpPr>
        <p:spPr>
          <a:xfrm>
            <a:off x="7680960" y="402336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contact-center wait time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766560" y="4937760"/>
            <a:ext cx="4846320" cy="1508760"/>
          </a:xfrm>
          <a:prstGeom prst="roundRect">
            <a:avLst>
              <a:gd name="adj" fmla="val 4848"/>
            </a:avLst>
          </a:prstGeom>
          <a:solidFill>
            <a:srgbClr val="E8F1F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6995160" y="50749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 if solved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6995160" y="5440680"/>
            <a:ext cx="4434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contact-center load, faster passenger resolution, and a self-service channel that scales during irregular-operations spikes without adding headcount.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Journey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7083"/>
                </a:solidFill>
              </a:rPr>
              <a:t>One flow. Five steps. No agent required for the majority of cases.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057400" cy="2377440"/>
          </a:xfrm>
          <a:prstGeom prst="roundRect">
            <a:avLst>
              <a:gd name="adj" fmla="val 3556"/>
            </a:avLst>
          </a:prstGeom>
          <a:solidFill>
            <a:srgbClr val="14427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3020" y="2359152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58368" y="21945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85800" y="30175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85800" y="3401568"/>
            <a:ext cx="1783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PNR + last name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2560320" y="30175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7083"/>
                </a:solidFill>
              </a:rPr>
              <a:t>→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2862072" y="2103120"/>
            <a:ext cx="2057400" cy="2377440"/>
          </a:xfrm>
          <a:prstGeom prst="roundRect">
            <a:avLst>
              <a:gd name="adj" fmla="val 3556"/>
            </a:avLst>
          </a:prstGeom>
          <a:solidFill>
            <a:srgbClr val="205295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6452" y="2359152"/>
            <a:ext cx="548640" cy="548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971800" y="21945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2999232" y="30175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2999232" y="3401568"/>
            <a:ext cx="1783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flight status: on-time, delayed, or cancelled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4873752" y="30175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7083"/>
                </a:solidFill>
              </a:rPr>
              <a:t>→</a:t>
            </a:r>
            <a:endParaRPr lang="en-US" sz="2000" dirty="0"/>
          </a:p>
        </p:txBody>
      </p:sp>
      <p:sp>
        <p:nvSpPr>
          <p:cNvPr id="16" name="Shape 12"/>
          <p:cNvSpPr/>
          <p:nvPr/>
        </p:nvSpPr>
        <p:spPr>
          <a:xfrm>
            <a:off x="5175504" y="2103120"/>
            <a:ext cx="2057400" cy="2377440"/>
          </a:xfrm>
          <a:prstGeom prst="roundRect">
            <a:avLst>
              <a:gd name="adj" fmla="val 3556"/>
            </a:avLst>
          </a:prstGeom>
          <a:solidFill>
            <a:srgbClr val="14427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9884" y="2359152"/>
            <a:ext cx="548640" cy="5486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285232" y="21945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5312664" y="30175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/ Rebook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5312664" y="3401568"/>
            <a:ext cx="1783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Bot handles the case or shows alternatives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7187184" y="30175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7083"/>
                </a:solidFill>
              </a:rPr>
              <a:t>→</a:t>
            </a:r>
            <a:endParaRPr lang="en-US" sz="2000" dirty="0"/>
          </a:p>
        </p:txBody>
      </p:sp>
      <p:sp>
        <p:nvSpPr>
          <p:cNvPr id="22" name="Shape 17"/>
          <p:cNvSpPr/>
          <p:nvPr/>
        </p:nvSpPr>
        <p:spPr>
          <a:xfrm>
            <a:off x="7488936" y="2103120"/>
            <a:ext cx="2057400" cy="2377440"/>
          </a:xfrm>
          <a:prstGeom prst="roundRect">
            <a:avLst>
              <a:gd name="adj" fmla="val 3556"/>
            </a:avLst>
          </a:prstGeom>
          <a:solidFill>
            <a:srgbClr val="205295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3316" y="2359152"/>
            <a:ext cx="548640" cy="54864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598664" y="21945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7626096" y="30175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7626096" y="3401568"/>
            <a:ext cx="1783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 / voucher eligibility shown automatically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9500616" y="30175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7083"/>
                </a:solidFill>
              </a:rPr>
              <a:t>→</a:t>
            </a:r>
            <a:endParaRPr lang="en-US" sz="2000" dirty="0"/>
          </a:p>
        </p:txBody>
      </p:sp>
      <p:sp>
        <p:nvSpPr>
          <p:cNvPr id="28" name="Shape 22"/>
          <p:cNvSpPr/>
          <p:nvPr/>
        </p:nvSpPr>
        <p:spPr>
          <a:xfrm>
            <a:off x="9802368" y="2103120"/>
            <a:ext cx="2057400" cy="2377440"/>
          </a:xfrm>
          <a:prstGeom prst="roundRect">
            <a:avLst>
              <a:gd name="adj" fmla="val 3556"/>
            </a:avLst>
          </a:prstGeom>
          <a:solidFill>
            <a:srgbClr val="14427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56748" y="2359152"/>
            <a:ext cx="548640" cy="54864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9912096" y="21945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9939528" y="30175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</a:t>
            </a:r>
            <a:endParaRPr lang="en-US" sz="1500" dirty="0"/>
          </a:p>
        </p:txBody>
      </p:sp>
      <p:sp>
        <p:nvSpPr>
          <p:cNvPr id="32" name="Text 25"/>
          <p:cNvSpPr/>
          <p:nvPr/>
        </p:nvSpPr>
        <p:spPr>
          <a:xfrm>
            <a:off x="9939528" y="3401568"/>
            <a:ext cx="1783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itinerary confirmed, or escalated to agent</a:t>
            </a:r>
            <a:endParaRPr lang="en-US" sz="1050" dirty="0"/>
          </a:p>
        </p:txBody>
      </p:sp>
      <p:sp>
        <p:nvSpPr>
          <p:cNvPr id="33" name="Shape 26"/>
          <p:cNvSpPr/>
          <p:nvPr/>
        </p:nvSpPr>
        <p:spPr>
          <a:xfrm>
            <a:off x="548640" y="493776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E8F1F8"/>
          </a:solidFill>
          <a:ln/>
        </p:spPr>
      </p:sp>
      <p:sp>
        <p:nvSpPr>
          <p:cNvPr id="34" name="Text 27"/>
          <p:cNvSpPr/>
          <p:nvPr/>
        </p:nvSpPr>
        <p:spPr>
          <a:xfrm>
            <a:off x="868680" y="5120640"/>
            <a:ext cx="10424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decision:  </a:t>
            </a:r>
            <a:pPr indent="0" marL="0">
              <a:buNone/>
            </a:pPr>
            <a:r>
              <a:rPr lang="en-US" sz="140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Call Bot is the primary interface — voice-first, conversational, and capable of resolving the routine majority of cases end-to-end without the passenger touching a form.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Automate vs. Escalate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7083"/>
                </a:solidFill>
              </a:rPr>
              <a:t>10 disruption scenarios mapped to a bot response and an explicit escalation rule</a:t>
            </a:r>
            <a:endParaRPr lang="en-US" sz="13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78638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931920"/>
                <a:gridCol w="118872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Scenario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6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Bot Response Pattern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6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Path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64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32B"/>
                          </a:solidFill>
                        </a:rPr>
                        <a:t>Weather cancellation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7083"/>
                          </a:solidFill>
                        </a:rPr>
                        <a:t>Apologize, offer rebooking + voucher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8A5A"/>
                          </a:solidFill>
                        </a:rPr>
                        <a:t>Automate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32B"/>
                          </a:solidFill>
                        </a:rPr>
                        <a:t>Technical / maintenance fault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7083"/>
                          </a:solidFill>
                        </a:rPr>
                        <a:t>Apologize, offer refund OR free rebooking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8A5A"/>
                          </a:solidFill>
                        </a:rPr>
                        <a:t>Automate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32B"/>
                          </a:solidFill>
                        </a:rPr>
                        <a:t>Passenger-initiated cancellation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7083"/>
                          </a:solidFill>
                        </a:rPr>
                        <a:t>Explain fare rules, refund per fare class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8A5A"/>
                          </a:solidFill>
                        </a:rPr>
                        <a:t>Automate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32B"/>
                          </a:solidFill>
                        </a:rPr>
                        <a:t>Security / emergency-related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7083"/>
                          </a:solidFill>
                        </a:rPr>
                        <a:t>Prioritize rebooking, no probing questions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1502E"/>
                          </a:solidFill>
                        </a:rPr>
                        <a:t>Escalate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32B"/>
                          </a:solidFill>
                        </a:rPr>
                        <a:t>Connecting flight impacted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7083"/>
                          </a:solidFill>
                        </a:rPr>
                        <a:t>Check downstream itinerary, protect rerouting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1502E"/>
                          </a:solidFill>
                        </a:rPr>
                        <a:t>Escalate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32B"/>
                          </a:solidFill>
                        </a:rPr>
                        <a:t>Special assistance / medical / minor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7083"/>
                          </a:solidFill>
                        </a:rPr>
                        <a:t>Acknowledge, no automated resolution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1502E"/>
                          </a:solidFill>
                        </a:rPr>
                        <a:t>Escalate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32B"/>
                          </a:solidFill>
                        </a:rPr>
                        <a:t>Passenger frustration / compensation dispute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7083"/>
                          </a:solidFill>
                        </a:rPr>
                        <a:t>De-escalate once, then hand off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1502E"/>
                          </a:solidFill>
                        </a:rPr>
                        <a:t>Escalate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32B"/>
                          </a:solidFill>
                        </a:rPr>
                        <a:t>Ambiguous / unclear request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7083"/>
                          </a:solidFill>
                        </a:rPr>
                        <a:t>Ask one clarifying question, then hand off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1502E"/>
                          </a:solidFill>
                        </a:rPr>
                        <a:t>Escalate*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732520" y="1417320"/>
            <a:ext cx="2880360" cy="4937760"/>
          </a:xfrm>
          <a:prstGeom prst="roundRect">
            <a:avLst>
              <a:gd name="adj" fmla="val 2540"/>
            </a:avLst>
          </a:prstGeom>
          <a:solidFill>
            <a:srgbClr val="0A2647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6840" y="1691640"/>
            <a:ext cx="457200" cy="45720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1691640"/>
            <a:ext cx="457200" cy="4572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915400" y="22860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~70%</a:t>
            </a:r>
            <a:endParaRPr lang="en-US" sz="2600" dirty="0"/>
          </a:p>
        </p:txBody>
      </p:sp>
      <p:sp>
        <p:nvSpPr>
          <p:cNvPr id="9" name="Text 4"/>
          <p:cNvSpPr/>
          <p:nvPr/>
        </p:nvSpPr>
        <p:spPr>
          <a:xfrm>
            <a:off x="8915400" y="27889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routine disruption calls resolved by the bot, end-to-end</a:t>
            </a:r>
            <a:endParaRPr lang="en-US" sz="1150" dirty="0"/>
          </a:p>
        </p:txBody>
      </p:sp>
      <p:sp>
        <p:nvSpPr>
          <p:cNvPr id="10" name="Shape 5"/>
          <p:cNvSpPr/>
          <p:nvPr/>
        </p:nvSpPr>
        <p:spPr>
          <a:xfrm>
            <a:off x="8961120" y="3566160"/>
            <a:ext cx="2560320" cy="0"/>
          </a:xfrm>
          <a:prstGeom prst="line">
            <a:avLst/>
          </a:prstGeom>
          <a:noFill/>
          <a:ln w="12700">
            <a:solidFill>
              <a:srgbClr val="205295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8915400" y="3703320"/>
            <a:ext cx="26517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 automate the routine, clear-cut cases with standard remedies. We escalate anything safety-sensitive, emotionally charged, or structurally complex — because that's where a human adds real value.”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7083"/>
                </a:solidFill>
              </a:rPr>
              <a:t>A deliberately simple monolith — fast to build, easy to defend, straightforward to scale later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14427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10312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2057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SPA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" y="25146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+ Vite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/ Render (static)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794760" y="192024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205295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40" y="210312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480560" y="2057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Bot Module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3977640" y="25146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Speech API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(STT / TTS) + Intent Logic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6949440" y="192024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2C74B3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210312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635240" y="2057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Engine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7132320" y="25146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keyword +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scenario-flag triggers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2331720" y="3291840"/>
            <a:ext cx="0" cy="457200"/>
          </a:xfrm>
          <a:prstGeom prst="line">
            <a:avLst/>
          </a:prstGeom>
          <a:noFill/>
          <a:ln w="19050">
            <a:solidFill>
              <a:srgbClr val="5B7083"/>
            </a:solidFill>
            <a:prstDash val="solid"/>
            <a:tailEnd type="triangle"/>
          </a:ln>
        </p:spPr>
      </p:sp>
      <p:sp>
        <p:nvSpPr>
          <p:cNvPr id="17" name="Shape 12"/>
          <p:cNvSpPr/>
          <p:nvPr/>
        </p:nvSpPr>
        <p:spPr>
          <a:xfrm>
            <a:off x="5486400" y="3291840"/>
            <a:ext cx="0" cy="457200"/>
          </a:xfrm>
          <a:prstGeom prst="line">
            <a:avLst/>
          </a:prstGeom>
          <a:noFill/>
          <a:ln w="19050">
            <a:solidFill>
              <a:srgbClr val="5B7083"/>
            </a:solidFill>
            <a:prstDash val="solid"/>
            <a:tailEnd type="triangle"/>
          </a:ln>
        </p:spPr>
      </p:sp>
      <p:sp>
        <p:nvSpPr>
          <p:cNvPr id="18" name="Shape 13"/>
          <p:cNvSpPr/>
          <p:nvPr/>
        </p:nvSpPr>
        <p:spPr>
          <a:xfrm>
            <a:off x="8641080" y="3291840"/>
            <a:ext cx="0" cy="457200"/>
          </a:xfrm>
          <a:prstGeom prst="line">
            <a:avLst/>
          </a:prstGeom>
          <a:noFill/>
          <a:ln w="19050">
            <a:solidFill>
              <a:srgbClr val="5B7083"/>
            </a:solidFill>
            <a:prstDash val="solid"/>
            <a:tailEnd type="triangle"/>
          </a:ln>
        </p:spPr>
      </p:sp>
      <p:sp>
        <p:nvSpPr>
          <p:cNvPr id="19" name="Shape 14"/>
          <p:cNvSpPr/>
          <p:nvPr/>
        </p:nvSpPr>
        <p:spPr>
          <a:xfrm>
            <a:off x="2194560" y="3886200"/>
            <a:ext cx="3566160" cy="1188720"/>
          </a:xfrm>
          <a:prstGeom prst="roundRect">
            <a:avLst>
              <a:gd name="adj" fmla="val 6154"/>
            </a:avLst>
          </a:prstGeom>
          <a:solidFill>
            <a:srgbClr val="0A2647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7440" y="4251960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2971800" y="405079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API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2971800" y="44348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NLU for the Call Bot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6400800" y="3886200"/>
            <a:ext cx="3566160" cy="1188720"/>
          </a:xfrm>
          <a:prstGeom prst="roundRect">
            <a:avLst>
              <a:gd name="adj" fmla="val 6154"/>
            </a:avLst>
          </a:prstGeom>
          <a:solidFill>
            <a:srgbClr val="0A2647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4251960"/>
            <a:ext cx="457200" cy="45720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178040" y="405079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Data Store</a:t>
            </a:r>
            <a:endParaRPr lang="en-US" sz="1350" dirty="0"/>
          </a:p>
        </p:txBody>
      </p:sp>
      <p:sp>
        <p:nvSpPr>
          <p:cNvPr id="26" name="Text 19"/>
          <p:cNvSpPr/>
          <p:nvPr/>
        </p:nvSpPr>
        <p:spPr>
          <a:xfrm>
            <a:off x="7178040" y="44348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scenario bookings — in-app JSON / lightweight DB</a:t>
            </a:r>
            <a:endParaRPr lang="en-US" sz="1050" dirty="0"/>
          </a:p>
        </p:txBody>
      </p:sp>
      <p:sp>
        <p:nvSpPr>
          <p:cNvPr id="27" name="Shape 20"/>
          <p:cNvSpPr/>
          <p:nvPr/>
        </p:nvSpPr>
        <p:spPr>
          <a:xfrm>
            <a:off x="640080" y="548640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E8F1F8"/>
          </a:solidFill>
          <a:ln/>
        </p:spPr>
      </p:sp>
      <p:sp>
        <p:nvSpPr>
          <p:cNvPr id="28" name="Text 21"/>
          <p:cNvSpPr/>
          <p:nvPr/>
        </p:nvSpPr>
        <p:spPr>
          <a:xfrm>
            <a:off x="868680" y="562356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intentionally monolithic: </a:t>
            </a:r>
            <a:pPr indent="0" marL="0">
              <a:buNone/>
            </a:pPr>
            <a:r>
              <a:rPr lang="en-US" sz="130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frontend, one bot module, one data store. Scalability and security trade-offs are documented (not built) — see Assumptions &amp; Trade-offs.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26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645920"/>
            <a:ext cx="4572000" cy="4572000"/>
          </a:xfrm>
          <a:prstGeom prst="ellipse">
            <a:avLst/>
          </a:prstGeom>
          <a:solidFill>
            <a:srgbClr val="144272">
              <a:alpha val="5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C74B3"/>
                </a:solidFill>
              </a:rPr>
              <a:t>flight-call-bot.onrender.com — walking through 3 disruption scenarios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1737360"/>
            <a:ext cx="4206240" cy="448056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05840" y="1920240"/>
            <a:ext cx="3840480" cy="502920"/>
          </a:xfrm>
          <a:prstGeom prst="roundRect">
            <a:avLst>
              <a:gd name="adj" fmla="val 10909"/>
            </a:avLst>
          </a:prstGeom>
          <a:solidFill>
            <a:srgbClr val="E8F1F8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19659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SkyJet Recovery — Passenger Portal</a:t>
            </a:r>
            <a:endParaRPr lang="en-US" sz="1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97480" y="2926080"/>
            <a:ext cx="1005840" cy="10058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05840" y="41148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“Tap to talk to the Call Bot”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1143000" y="4754880"/>
            <a:ext cx="3566160" cy="1280160"/>
          </a:xfrm>
          <a:prstGeom prst="roundRect">
            <a:avLst>
              <a:gd name="adj" fmla="val 4286"/>
            </a:avLst>
          </a:prstGeom>
          <a:solidFill>
            <a:srgbClr val="E8F1F8"/>
          </a:solidFill>
          <a:ln/>
        </p:spPr>
      </p:sp>
      <p:sp>
        <p:nvSpPr>
          <p:cNvPr id="11" name="Text 8"/>
          <p:cNvSpPr/>
          <p:nvPr/>
        </p:nvSpPr>
        <p:spPr>
          <a:xfrm>
            <a:off x="1280160" y="489204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 placeholder — swap in a real capture before submission ]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486400" y="182880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demo shows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486400" y="2377440"/>
            <a:ext cx="128016" cy="128016"/>
          </a:xfrm>
          <a:prstGeom prst="ellipse">
            <a:avLst/>
          </a:prstGeom>
          <a:solidFill>
            <a:srgbClr val="2C74B3"/>
          </a:solidFill>
          <a:ln/>
        </p:spPr>
      </p:sp>
      <p:sp>
        <p:nvSpPr>
          <p:cNvPr id="14" name="Text 11"/>
          <p:cNvSpPr/>
          <p:nvPr/>
        </p:nvSpPr>
        <p:spPr>
          <a:xfrm>
            <a:off x="5760720" y="2258568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1 — Weather cancellation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5760720" y="258775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resolves end-to-end: apology, rebooking options, confirmation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0" y="3154680"/>
            <a:ext cx="128016" cy="128016"/>
          </a:xfrm>
          <a:prstGeom prst="ellipse">
            <a:avLst/>
          </a:prstGeom>
          <a:solidFill>
            <a:srgbClr val="2C74B3"/>
          </a:solidFill>
          <a:ln/>
        </p:spPr>
      </p:sp>
      <p:sp>
        <p:nvSpPr>
          <p:cNvPr id="17" name="Text 14"/>
          <p:cNvSpPr/>
          <p:nvPr/>
        </p:nvSpPr>
        <p:spPr>
          <a:xfrm>
            <a:off x="5760720" y="3035808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2 — Passenger-initiated change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5760720" y="33649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Fare rules explained, refund eligibility shown automatically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5486400" y="3931920"/>
            <a:ext cx="128016" cy="128016"/>
          </a:xfrm>
          <a:prstGeom prst="ellipse">
            <a:avLst/>
          </a:prstGeom>
          <a:solidFill>
            <a:srgbClr val="2C74B3"/>
          </a:solidFill>
          <a:ln/>
        </p:spPr>
      </p:sp>
      <p:sp>
        <p:nvSpPr>
          <p:cNvPr id="20" name="Text 17"/>
          <p:cNvSpPr/>
          <p:nvPr/>
        </p:nvSpPr>
        <p:spPr>
          <a:xfrm>
            <a:off x="5760720" y="3813048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3 — Special assistance mention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5760720" y="41422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immediately escalates — no automated resolution attempted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5486400" y="5029200"/>
            <a:ext cx="5852160" cy="1188720"/>
          </a:xfrm>
          <a:prstGeom prst="roundRect">
            <a:avLst>
              <a:gd name="adj" fmla="val 6154"/>
            </a:avLst>
          </a:prstGeom>
          <a:solidFill>
            <a:srgbClr val="144272"/>
          </a:solidFill>
          <a:ln/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5257800"/>
            <a:ext cx="457200" cy="45720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6309360" y="5193792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github.com/Shivanshdarji/Flight-Call-Bot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source, README, and setup instructions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Technical Decisions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64240" cy="1170432"/>
          </a:xfrm>
          <a:prstGeom prst="roundRect">
            <a:avLst>
              <a:gd name="adj" fmla="val 5469"/>
            </a:avLst>
          </a:prstGeom>
          <a:solidFill>
            <a:srgbClr val="E8F1F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682496"/>
            <a:ext cx="640080" cy="640080"/>
          </a:xfrm>
          <a:prstGeom prst="ellipse">
            <a:avLst/>
          </a:prstGeom>
          <a:solidFill>
            <a:srgbClr val="14427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819656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91640" y="152704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Speech API for voice, not telephony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691640" y="1892808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genuine voice experience in-browser (SpeechRecognition + SpeechSynthesis) without needing PSTN/telephony infrastructure we couldn't finish and reliably demo in 48 hours.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2715768"/>
            <a:ext cx="11064240" cy="1170432"/>
          </a:xfrm>
          <a:prstGeom prst="roundRect">
            <a:avLst>
              <a:gd name="adj" fmla="val 5469"/>
            </a:avLst>
          </a:prstGeom>
          <a:solidFill>
            <a:srgbClr val="E8F1F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77240" y="2980944"/>
            <a:ext cx="640080" cy="640080"/>
          </a:xfrm>
          <a:prstGeom prst="ellipse">
            <a:avLst/>
          </a:prstGeom>
          <a:solidFill>
            <a:srgbClr val="14427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118104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91640" y="282549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escalation, not ML sentiment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691640" y="3191256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+ scenario-flag triggers are simple, explainable, and fast to build — the right choice for an MVP where judges need to see the logic, not a black box.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48640" y="4014216"/>
            <a:ext cx="11064240" cy="1170432"/>
          </a:xfrm>
          <a:prstGeom prst="roundRect">
            <a:avLst>
              <a:gd name="adj" fmla="val 5469"/>
            </a:avLst>
          </a:prstGeom>
          <a:solidFill>
            <a:srgbClr val="E8F1F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77240" y="4279392"/>
            <a:ext cx="640080" cy="640080"/>
          </a:xfrm>
          <a:prstGeom prst="ellipse">
            <a:avLst/>
          </a:prstGeom>
          <a:solidFill>
            <a:srgbClr val="144272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416552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91640" y="4123944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Monolithic architecture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691640" y="4489704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frontend, one bot module, one data store. Resisted microservices — they'd cost build time without adding anything a judge could observe in a 5-minute demo.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548640" y="5312664"/>
            <a:ext cx="11064240" cy="1170432"/>
          </a:xfrm>
          <a:prstGeom prst="roundRect">
            <a:avLst>
              <a:gd name="adj" fmla="val 5469"/>
            </a:avLst>
          </a:prstGeom>
          <a:solidFill>
            <a:srgbClr val="E8F1F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77240" y="5577840"/>
            <a:ext cx="640080" cy="640080"/>
          </a:xfrm>
          <a:prstGeom prst="ellipse">
            <a:avLst/>
          </a:prstGeom>
          <a:solidFill>
            <a:srgbClr val="144272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5715000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691640" y="542239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API for conversational NLU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1691640" y="5788152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Leverages a production-grade LLM for intent understanding rather than building a classifier from scratch — lets us focus engineering time on the escalation logic that's actually novel here.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Assumptions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7083"/>
                </a:solidFill>
              </a:rPr>
              <a:t>Stated explicitly so evaluation reflects an honest scope, not a hidden gap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3949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I/O uses the browser's Web Speech API for the demo; production would use Twilio Voice + a managed STT/TTS provider for real phone-call handling</a:t>
            </a:r>
            <a:endParaRPr lang="en-US" sz="13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logic is rule-based (keyword + scenario flags), not ML-based sentiment analysis — documented as a v2 enhancement</a:t>
            </a:r>
            <a:endParaRPr lang="en-US" sz="13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Single-passenger PNRs only; no group bookings</a:t>
            </a:r>
            <a:endParaRPr lang="en-US" sz="13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Flight/passenger data is seeded across 10 scenarios, standing in for SkyJet's real APIs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217920" y="1691640"/>
            <a:ext cx="53949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Compensation/refund rules are simplified per our scenario matrix; real airline policy involves jurisdiction-specific nuance (e.g. EU261)</a:t>
            </a:r>
            <a:endParaRPr lang="en-US" sz="13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 payment processing, per the challenge constraint</a:t>
            </a:r>
            <a:endParaRPr lang="en-US" sz="13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“Talk to an agent” handoff is simulated (queued/callback state) — no real agent exists in this MVP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Trade-offs &amp; What We Deferred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7083"/>
                </a:solidFill>
              </a:rPr>
              <a:t>Deliberate scope cuts — not oversights</a:t>
            </a:r>
            <a:endParaRPr lang="en-US" sz="13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554480"/>
                <a:gridCol w="640080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6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6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Why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64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232B"/>
                          </a:solidFill>
                        </a:rPr>
                        <a:t>Real telephony (Twilio Voice)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1502E"/>
                          </a:solidFill>
                        </a:rPr>
                        <a:t>Deferred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7083"/>
                          </a:solidFill>
                        </a:rPr>
                        <a:t>Browser-based voice proves the concept without infra that's fragile to demo live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232B"/>
                          </a:solidFill>
                        </a:rPr>
                        <a:t>ML-based sentiment/intent classification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1502E"/>
                          </a:solidFill>
                        </a:rPr>
                        <a:t>Deferred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7083"/>
                          </a:solidFill>
                        </a:rPr>
                        <a:t>Rule-based triggers are explainable and fast to build; sentiment ML is a clear v2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232B"/>
                          </a:solidFill>
                        </a:rPr>
                        <a:t>Multi-passenger / group bookings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1502E"/>
                          </a:solidFill>
                        </a:rPr>
                        <a:t>Deferred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7083"/>
                          </a:solidFill>
                        </a:rPr>
                        <a:t>Single-PNR flow covers the core disruption journey the brief asks for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232B"/>
                          </a:solidFill>
                        </a:rPr>
                        <a:t>Real payment processing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5B7083"/>
                          </a:solidFill>
                        </a:rPr>
                        <a:t>Out of scope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7083"/>
                          </a:solidFill>
                        </a:rPr>
                        <a:t>Explicitly excluded by the challenge constraints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232B"/>
                          </a:solidFill>
                        </a:rPr>
                        <a:t>Production-grade auth (OTP/2FA)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1502E"/>
                          </a:solidFill>
                        </a:rPr>
                        <a:t>Deferred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7083"/>
                          </a:solidFill>
                        </a:rPr>
                        <a:t>PNR + last name is sufficient for an MVP demo; noted as a production gap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26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011680"/>
            <a:ext cx="5486400" cy="5486400"/>
          </a:xfrm>
          <a:prstGeom prst="ellipse">
            <a:avLst/>
          </a:prstGeom>
          <a:solidFill>
            <a:srgbClr val="144272">
              <a:alpha val="5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Enhancements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00200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15544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telephony via Twilio Voice</a:t>
            </a:r>
            <a:endParaRPr lang="en-US" sz="15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258568"/>
            <a:ext cx="384048" cy="38404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71600" y="2212848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ML-based sentiment &amp; intent classification</a:t>
            </a:r>
            <a:endParaRPr lang="en-US" sz="15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916936"/>
            <a:ext cx="384048" cy="38404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371600" y="2871216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Multi-passenger / group booking support</a:t>
            </a:r>
            <a:endParaRPr lang="en-US" sz="15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575304"/>
            <a:ext cx="384048" cy="38404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371600" y="3529584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auth with OTP / 2FA</a:t>
            </a:r>
            <a:endParaRPr lang="en-US" sz="1500" dirty="0"/>
          </a:p>
        </p:txBody>
      </p:sp>
      <p:sp>
        <p:nvSpPr>
          <p:cNvPr id="12" name="Shape 6"/>
          <p:cNvSpPr/>
          <p:nvPr/>
        </p:nvSpPr>
        <p:spPr>
          <a:xfrm>
            <a:off x="6766560" y="1554480"/>
            <a:ext cx="4846320" cy="4480560"/>
          </a:xfrm>
          <a:prstGeom prst="roundRect">
            <a:avLst>
              <a:gd name="adj" fmla="val 2041"/>
            </a:avLst>
          </a:prstGeom>
          <a:solidFill>
            <a:srgbClr val="14427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7"/>
          <p:cNvSpPr/>
          <p:nvPr/>
        </p:nvSpPr>
        <p:spPr>
          <a:xfrm>
            <a:off x="7040880" y="182880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14" name="Text 8"/>
          <p:cNvSpPr/>
          <p:nvPr/>
        </p:nvSpPr>
        <p:spPr>
          <a:xfrm>
            <a:off x="7040880" y="2606040"/>
            <a:ext cx="42976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Hack Hustlers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Jaydev Prajapati  ·  Shivansh Darji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SVIT, Vasad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2C7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flight-call-bot.onrender.com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2C7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github.com/Shivanshdarji/Flight-Call-Bot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Flight-Call-Bot - SkyJet Self-Service Recovery</dc:title>
  <dc:subject>PptxGenJS Presentation</dc:subject>
  <dc:creator>Hack Hustlers</dc:creator>
  <cp:lastModifiedBy>Hack Hustlers</cp:lastModifiedBy>
  <cp:revision>1</cp:revision>
  <dcterms:created xsi:type="dcterms:W3CDTF">2026-07-03T05:43:05Z</dcterms:created>
  <dcterms:modified xsi:type="dcterms:W3CDTF">2026-07-03T05:43:06Z</dcterms:modified>
</cp:coreProperties>
</file>